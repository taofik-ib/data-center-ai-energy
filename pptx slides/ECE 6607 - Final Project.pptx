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Nuni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Nunito-bold.fntdata"/><Relationship Id="rId12" Type="http://schemas.openxmlformats.org/officeDocument/2006/relationships/font" Target="fonts/Nuni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boldItalic.fntdata"/><Relationship Id="rId14"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9730c89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a9730c89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9730c891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9730c891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9730c891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9730c891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9730c891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9730c891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9730c891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9730c891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Use of Energy by Data Centers</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500"/>
              <a:t>Taofeek Ibrahim and Jordan Patterson</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398150"/>
            <a:ext cx="75057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150">
                <a:highlight>
                  <a:srgbClr val="F2F2F2"/>
                </a:highlight>
              </a:rPr>
              <a:t>What are data centers, where are they, and how do they work?</a:t>
            </a:r>
            <a:endParaRPr/>
          </a:p>
        </p:txBody>
      </p:sp>
      <p:sp>
        <p:nvSpPr>
          <p:cNvPr id="135" name="Google Shape;135;p14"/>
          <p:cNvSpPr txBox="1"/>
          <p:nvPr>
            <p:ph idx="1" type="body"/>
          </p:nvPr>
        </p:nvSpPr>
        <p:spPr>
          <a:xfrm>
            <a:off x="346050" y="1454975"/>
            <a:ext cx="8486400" cy="3114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What:</a:t>
            </a:r>
            <a:r>
              <a:rPr lang="en"/>
              <a:t> Data Centers are buildings that store servers and other networking equipment that are the backbone of the online services we use everyday.</a:t>
            </a:r>
            <a:endParaRPr/>
          </a:p>
          <a:p>
            <a:pPr indent="0" lvl="0" marL="0" rtl="0" algn="l">
              <a:spcBef>
                <a:spcPts val="1200"/>
              </a:spcBef>
              <a:spcAft>
                <a:spcPts val="0"/>
              </a:spcAft>
              <a:buNone/>
            </a:pPr>
            <a:r>
              <a:rPr b="1" lang="en"/>
              <a:t>Where:</a:t>
            </a:r>
            <a:r>
              <a:rPr lang="en"/>
              <a:t> </a:t>
            </a:r>
            <a:r>
              <a:rPr lang="en"/>
              <a:t>Locations with reliable internet connectivity make suitable locations for data centers. This is critical as good internet connectivity is critical to service customers with low latency. </a:t>
            </a:r>
            <a:r>
              <a:rPr lang="en"/>
              <a:t>Data centers are </a:t>
            </a:r>
            <a:r>
              <a:rPr lang="en"/>
              <a:t>typically located in cooler climates. This is to not over exert the cooling system for the data center. They are often in rural areas with cheaper electricity costs. Lastly, they are often in regions with political and economic stability. </a:t>
            </a:r>
            <a:endParaRPr/>
          </a:p>
          <a:p>
            <a:pPr indent="0" lvl="0" marL="0" rtl="0" algn="l">
              <a:spcBef>
                <a:spcPts val="1200"/>
              </a:spcBef>
              <a:spcAft>
                <a:spcPts val="0"/>
              </a:spcAft>
              <a:buNone/>
            </a:pPr>
            <a:r>
              <a:rPr lang="en"/>
              <a:t>The United States has the largest concentration of data centers around the world. Other countries that have high concentrations include China, Ireland, Japan, Singapore, and Canada.</a:t>
            </a:r>
            <a:endParaRPr/>
          </a:p>
          <a:p>
            <a:pPr indent="0" lvl="0" marL="0" rtl="0" algn="l">
              <a:spcBef>
                <a:spcPts val="1200"/>
              </a:spcBef>
              <a:spcAft>
                <a:spcPts val="1200"/>
              </a:spcAft>
              <a:buNone/>
            </a:pPr>
            <a:r>
              <a:rPr b="1" lang="en"/>
              <a:t>How they work: </a:t>
            </a:r>
            <a:r>
              <a:rPr lang="en"/>
              <a:t>Data centers primarily maintain, process, and deliver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464025" y="499550"/>
            <a:ext cx="7860900" cy="954600"/>
          </a:xfrm>
          <a:prstGeom prst="rect">
            <a:avLst/>
          </a:prstGeom>
        </p:spPr>
        <p:txBody>
          <a:bodyPr anchorCtr="0" anchor="t" bIns="91425" lIns="91425" spcFirstLastPara="1" rIns="91425" wrap="square" tIns="91425">
            <a:normAutofit fontScale="90000"/>
          </a:bodyPr>
          <a:lstStyle/>
          <a:p>
            <a:pPr indent="0" lvl="0" marL="0" marR="0" rtl="0" algn="l">
              <a:lnSpc>
                <a:spcPct val="115000"/>
              </a:lnSpc>
              <a:spcBef>
                <a:spcPts val="0"/>
              </a:spcBef>
              <a:spcAft>
                <a:spcPts val="0"/>
              </a:spcAft>
              <a:buClr>
                <a:schemeClr val="dk1"/>
              </a:buClr>
              <a:buSzPct val="44295"/>
              <a:buFont typeface="Arial"/>
              <a:buNone/>
            </a:pPr>
            <a:r>
              <a:rPr lang="en" sz="2483">
                <a:highlight>
                  <a:srgbClr val="F2F2F2"/>
                </a:highlight>
              </a:rPr>
              <a:t>How does energy use look for large data centers, e.g., Google,</a:t>
            </a:r>
            <a:endParaRPr sz="2483">
              <a:highlight>
                <a:srgbClr val="F2F2F2"/>
              </a:highlight>
            </a:endParaRPr>
          </a:p>
          <a:p>
            <a:pPr indent="0" lvl="0" marL="0" rtl="0" algn="l">
              <a:lnSpc>
                <a:spcPct val="115000"/>
              </a:lnSpc>
              <a:spcBef>
                <a:spcPts val="0"/>
              </a:spcBef>
              <a:spcAft>
                <a:spcPts val="0"/>
              </a:spcAft>
              <a:buClr>
                <a:schemeClr val="dk1"/>
              </a:buClr>
              <a:buSzPct val="253848"/>
              <a:buFont typeface="Arial"/>
              <a:buNone/>
            </a:pPr>
            <a:r>
              <a:t/>
            </a:r>
            <a:endParaRPr sz="433"/>
          </a:p>
          <a:p>
            <a:pPr indent="0" lvl="0" marL="0" marR="0" rtl="0" algn="l">
              <a:lnSpc>
                <a:spcPct val="115000"/>
              </a:lnSpc>
              <a:spcBef>
                <a:spcPts val="0"/>
              </a:spcBef>
              <a:spcAft>
                <a:spcPts val="0"/>
              </a:spcAft>
              <a:buClr>
                <a:schemeClr val="dk1"/>
              </a:buClr>
              <a:buSzPct val="44295"/>
              <a:buFont typeface="Arial"/>
              <a:buNone/>
            </a:pPr>
            <a:r>
              <a:rPr lang="en" sz="2483">
                <a:highlight>
                  <a:srgbClr val="F2F2F2"/>
                </a:highlight>
              </a:rPr>
              <a:t>Amazon, MS, Meta, AI manufacturing...?</a:t>
            </a:r>
            <a:endParaRPr sz="2483">
              <a:highlight>
                <a:srgbClr val="F2F2F2"/>
              </a:highlight>
            </a:endParaRPr>
          </a:p>
          <a:p>
            <a:pPr indent="0" lvl="0" marL="0" rtl="0" algn="l">
              <a:spcBef>
                <a:spcPts val="0"/>
              </a:spcBef>
              <a:spcAft>
                <a:spcPts val="0"/>
              </a:spcAft>
              <a:buNone/>
            </a:pPr>
            <a:r>
              <a:t/>
            </a:r>
            <a:endParaRPr/>
          </a:p>
        </p:txBody>
      </p:sp>
      <p:sp>
        <p:nvSpPr>
          <p:cNvPr id="141" name="Google Shape;141;p15"/>
          <p:cNvSpPr txBox="1"/>
          <p:nvPr>
            <p:ph idx="1" type="body"/>
          </p:nvPr>
        </p:nvSpPr>
        <p:spPr>
          <a:xfrm>
            <a:off x="311700" y="1690900"/>
            <a:ext cx="8520600" cy="28779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In the United States and globally, large hyperscale data centers operated by companies such as Google, Amazon (AWS), Microsoft, and Meta consume very large amounts of electricity. Data centers currently use about 415 TWh of energy each year, equal to 1.5% of global electricity demand, while U.S. data centers consume about 176 TWh annually (roughly 4.4% of U.S. electricity usage). The IEA projects that demand could double by 2030, largely due to rapid expansion in AI computing.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AI-focused data centers require significantly more energy than traditional facilities. New AI campuses can draw hundreds of megawatts, and some future sites may require power equivalent to 1–2 million households, creating substantial pressure on regional electrical grids.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Although hyperscale companies heavily invest in energy efficiency and renewable energy, total electricity use continues to rise. Google reports a PUE of ~1.09, AWS ~1.15, and Meta’s energy use increased 34% in 2023. Meanwhile, Microsoft’s emissions have risen ~30% since 2020, and a UN/ITU study found that electricity-related emissions for major hyperscalers grew about 150% between 2020 and 2023.</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Overall, energy efficiency gains are not keeping pace with growing demand. Future sustainability strategies will rely on renewables, energy storage, and potentially advanced nuclear technology to support rapidly expanding AI workloads.</a:t>
            </a:r>
            <a:endParaRPr/>
          </a:p>
          <a:p>
            <a:pPr indent="0" lvl="0" marL="0" rtl="0" algn="l">
              <a:spcBef>
                <a:spcPts val="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471875" y="389450"/>
            <a:ext cx="7668000" cy="10263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990"/>
              <a:buNone/>
            </a:pPr>
            <a:r>
              <a:rPr lang="en" sz="2100">
                <a:highlight>
                  <a:srgbClr val="F2F2F2"/>
                </a:highlight>
              </a:rPr>
              <a:t>How does energy use look for moderate and small data </a:t>
            </a:r>
            <a:endParaRPr sz="2100">
              <a:highlight>
                <a:srgbClr val="F2F2F2"/>
              </a:highlight>
            </a:endParaRPr>
          </a:p>
          <a:p>
            <a:pPr indent="0" lvl="0" marL="0" marR="0" rtl="0" algn="l">
              <a:lnSpc>
                <a:spcPct val="100000"/>
              </a:lnSpc>
              <a:spcBef>
                <a:spcPts val="0"/>
              </a:spcBef>
              <a:spcAft>
                <a:spcPts val="0"/>
              </a:spcAft>
              <a:buClr>
                <a:schemeClr val="dk1"/>
              </a:buClr>
              <a:buSzPts val="990"/>
              <a:buFont typeface="Arial"/>
              <a:buNone/>
            </a:pPr>
            <a:r>
              <a:rPr lang="en" sz="2100">
                <a:highlight>
                  <a:srgbClr val="F2F2F2"/>
                </a:highlight>
              </a:rPr>
              <a:t>centers, e.g., at universities/smaller companies?</a:t>
            </a:r>
            <a:endParaRPr sz="2100">
              <a:highlight>
                <a:srgbClr val="F2F2F2"/>
              </a:highlight>
            </a:endParaRPr>
          </a:p>
          <a:p>
            <a:pPr indent="0" lvl="0" marL="0" rtl="0" algn="l">
              <a:spcBef>
                <a:spcPts val="0"/>
              </a:spcBef>
              <a:spcAft>
                <a:spcPts val="0"/>
              </a:spcAft>
              <a:buSzPts val="990"/>
              <a:buNone/>
            </a:pPr>
            <a:r>
              <a:t/>
            </a:r>
            <a:endParaRPr sz="2400"/>
          </a:p>
        </p:txBody>
      </p:sp>
      <p:sp>
        <p:nvSpPr>
          <p:cNvPr id="147" name="Google Shape;147;p16"/>
          <p:cNvSpPr txBox="1"/>
          <p:nvPr>
            <p:ph idx="1" type="body"/>
          </p:nvPr>
        </p:nvSpPr>
        <p:spPr>
          <a:xfrm>
            <a:off x="285600" y="1486425"/>
            <a:ext cx="8572800" cy="2815200"/>
          </a:xfrm>
          <a:prstGeom prst="rect">
            <a:avLst/>
          </a:prstGeom>
        </p:spPr>
        <p:txBody>
          <a:bodyPr anchorCtr="0" anchor="t" bIns="91425" lIns="91425" spcFirstLastPara="1" rIns="91425" wrap="square" tIns="91425">
            <a:normAutofit/>
          </a:bodyPr>
          <a:lstStyle/>
          <a:p>
            <a:pPr indent="0" lvl="0" marL="457200" marR="0" rtl="0" algn="l">
              <a:lnSpc>
                <a:spcPct val="115000"/>
              </a:lnSpc>
              <a:spcBef>
                <a:spcPts val="0"/>
              </a:spcBef>
              <a:spcAft>
                <a:spcPts val="0"/>
              </a:spcAft>
              <a:buNone/>
            </a:pPr>
            <a:r>
              <a:rPr lang="en"/>
              <a:t>In the United States, small data centers (1-25 servers) consume roughly 12.9 billion kWh of energy annually while emitting 6.71 million metric tons of carbon dioxide from an approximate 3.7 million total servers.</a:t>
            </a:r>
            <a:endParaRPr/>
          </a:p>
          <a:p>
            <a:pPr indent="0" lvl="0" marL="457200" marR="0" rtl="0" algn="l">
              <a:lnSpc>
                <a:spcPct val="115000"/>
              </a:lnSpc>
              <a:spcBef>
                <a:spcPts val="1200"/>
              </a:spcBef>
              <a:spcAft>
                <a:spcPts val="0"/>
              </a:spcAft>
              <a:buNone/>
            </a:pPr>
            <a:r>
              <a:rPr lang="en"/>
              <a:t>In the United States, mid-size data centers (26-500 servers) consume roughly 2.3 billion kWh of energy annually while emitting 3.3 million metric tons of carbon dioxide from an approximate 1.47 million total servers.</a:t>
            </a:r>
            <a:endParaRPr/>
          </a:p>
          <a:p>
            <a:pPr indent="0" lvl="0" marL="457200" marR="0" rtl="0" algn="l">
              <a:lnSpc>
                <a:spcPct val="115000"/>
              </a:lnSpc>
              <a:spcBef>
                <a:spcPts val="1200"/>
              </a:spcBef>
              <a:spcAft>
                <a:spcPts val="0"/>
              </a:spcAft>
              <a:buNone/>
            </a:pPr>
            <a:r>
              <a:rPr lang="en"/>
              <a:t>Smaller and mid-size data centers typically do not have strategically design cooling systems. They often depend on the central air conditioning systems so they are not very efficient. A metric called PUE (Power Usage Effectiveness) which is a ratio of a data center's total power usage </a:t>
            </a:r>
            <a:r>
              <a:rPr lang="en"/>
              <a:t>divided</a:t>
            </a:r>
            <a:r>
              <a:rPr lang="en"/>
              <a:t> by the energy of the IT equipment. Small data centers are about 1.8-2.5, medium size 1.4-1.8, and large 1.1-1.3. Therefore, the larger data centers tend to be more efficient. </a:t>
            </a:r>
            <a:endParaRPr/>
          </a:p>
          <a:p>
            <a:pPr indent="0" lvl="0" marL="457200" marR="0" rtl="0" algn="l">
              <a:lnSpc>
                <a:spcPct val="115000"/>
              </a:lnSpc>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553825" y="443050"/>
            <a:ext cx="8224200" cy="1045200"/>
          </a:xfrm>
          <a:prstGeom prst="rect">
            <a:avLst/>
          </a:prstGeom>
        </p:spPr>
        <p:txBody>
          <a:bodyPr anchorCtr="0" anchor="t" bIns="91425" lIns="91425" spcFirstLastPara="1" rIns="91425" wrap="square" tIns="91425">
            <a:normAutofit fontScale="90000"/>
          </a:bodyPr>
          <a:lstStyle/>
          <a:p>
            <a:pPr indent="0" lvl="0" marL="0" marR="0" rtl="0" algn="l">
              <a:spcBef>
                <a:spcPts val="0"/>
              </a:spcBef>
              <a:spcAft>
                <a:spcPts val="0"/>
              </a:spcAft>
              <a:buClr>
                <a:schemeClr val="dk1"/>
              </a:buClr>
              <a:buSzPct val="34920"/>
              <a:buFont typeface="Arial"/>
              <a:buNone/>
            </a:pPr>
            <a:r>
              <a:rPr lang="en" sz="3150">
                <a:highlight>
                  <a:srgbClr val="F2F2F2"/>
                </a:highlight>
              </a:rPr>
              <a:t>What are current issues relating to data centers? </a:t>
            </a:r>
            <a:endParaRPr sz="3150">
              <a:highlight>
                <a:srgbClr val="F2F2F2"/>
              </a:highlight>
            </a:endParaRPr>
          </a:p>
          <a:p>
            <a:pPr indent="0" lvl="0" marL="0" marR="0" rtl="0" algn="l">
              <a:spcBef>
                <a:spcPts val="0"/>
              </a:spcBef>
              <a:spcAft>
                <a:spcPts val="0"/>
              </a:spcAft>
              <a:buClr>
                <a:schemeClr val="dk1"/>
              </a:buClr>
              <a:buSzPct val="34920"/>
              <a:buFont typeface="Arial"/>
              <a:buNone/>
            </a:pPr>
            <a:r>
              <a:rPr lang="en" sz="3150">
                <a:highlight>
                  <a:srgbClr val="F2F2F2"/>
                </a:highlight>
              </a:rPr>
              <a:t>This can be Georgia-specific or more general.</a:t>
            </a:r>
            <a:endParaRPr sz="3150">
              <a:highlight>
                <a:srgbClr val="F2F2F2"/>
              </a:highlight>
            </a:endParaRPr>
          </a:p>
          <a:p>
            <a:pPr indent="0" lvl="0" marL="0" rtl="0" algn="l">
              <a:spcBef>
                <a:spcPts val="0"/>
              </a:spcBef>
              <a:spcAft>
                <a:spcPts val="0"/>
              </a:spcAft>
              <a:buClr>
                <a:schemeClr val="dk1"/>
              </a:buClr>
              <a:buSzPct val="100000"/>
              <a:buFont typeface="Arial"/>
              <a:buNone/>
            </a:pPr>
            <a:r>
              <a:t/>
            </a:r>
            <a:endParaRPr sz="1100">
              <a:highlight>
                <a:srgbClr val="F2F2F2"/>
              </a:highlight>
            </a:endParaRPr>
          </a:p>
          <a:p>
            <a:pPr indent="0" lvl="0" marL="0" rtl="0" algn="l">
              <a:spcBef>
                <a:spcPts val="0"/>
              </a:spcBef>
              <a:spcAft>
                <a:spcPts val="0"/>
              </a:spcAft>
              <a:buNone/>
            </a:pPr>
            <a:r>
              <a:t/>
            </a:r>
            <a:endParaRPr/>
          </a:p>
        </p:txBody>
      </p:sp>
      <p:sp>
        <p:nvSpPr>
          <p:cNvPr id="153" name="Google Shape;153;p17"/>
          <p:cNvSpPr txBox="1"/>
          <p:nvPr>
            <p:ph idx="1" type="body"/>
          </p:nvPr>
        </p:nvSpPr>
        <p:spPr>
          <a:xfrm>
            <a:off x="819150" y="1557575"/>
            <a:ext cx="7505700" cy="2881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t>Data centers are growing rapidly to support cloud services and AI, but that growth is creating major challenges. They require huge amounts of electricity and water, putting pressure on power grids and local resources, especially in fast-growing regions like Georgia. </a:t>
            </a:r>
            <a:endParaRPr/>
          </a:p>
          <a:p>
            <a:pPr indent="457200" lvl="0" marL="0" rtl="0" algn="l">
              <a:spcBef>
                <a:spcPts val="1200"/>
              </a:spcBef>
              <a:spcAft>
                <a:spcPts val="0"/>
              </a:spcAft>
              <a:buNone/>
            </a:pPr>
            <a:r>
              <a:rPr lang="en"/>
              <a:t>Communities are increasingly concerned about environmental impacts, higher utility costs, land use, and a lack of transparency about energy and water consumption. Even though operators are investing in efficiency and renewable energy, overall demand is rising faster than sustainability improvements can keep up. As AI expands, these issues are becoming more urgent, and better planning, regulation, and community involvement are needed to balance economic benefits with long-term environmental and social impacts.</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499575"/>
            <a:ext cx="7505700" cy="491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a:p>
            <a:pPr indent="0" lvl="0" marL="0" rtl="0" algn="l">
              <a:spcBef>
                <a:spcPts val="0"/>
              </a:spcBef>
              <a:spcAft>
                <a:spcPts val="0"/>
              </a:spcAft>
              <a:buNone/>
            </a:pPr>
            <a:r>
              <a:t/>
            </a:r>
            <a:endParaRPr/>
          </a:p>
        </p:txBody>
      </p:sp>
      <p:sp>
        <p:nvSpPr>
          <p:cNvPr id="159" name="Google Shape;159;p18"/>
          <p:cNvSpPr txBox="1"/>
          <p:nvPr>
            <p:ph idx="1" type="body"/>
          </p:nvPr>
        </p:nvSpPr>
        <p:spPr>
          <a:xfrm>
            <a:off x="819150" y="1127550"/>
            <a:ext cx="7505700" cy="3190200"/>
          </a:xfrm>
          <a:prstGeom prst="rect">
            <a:avLst/>
          </a:prstGeom>
        </p:spPr>
        <p:txBody>
          <a:bodyPr anchorCtr="0" anchor="t" bIns="91425" lIns="91425" spcFirstLastPara="1" rIns="91425" wrap="square" tIns="91425">
            <a:normAutofit fontScale="85000" lnSpcReduction="10000"/>
          </a:bodyPr>
          <a:lstStyle/>
          <a:p>
            <a:pPr indent="-298767" lvl="0" marL="457200" rtl="0" algn="l">
              <a:spcBef>
                <a:spcPts val="0"/>
              </a:spcBef>
              <a:spcAft>
                <a:spcPts val="0"/>
              </a:spcAft>
              <a:buSzPct val="100000"/>
              <a:buChar char="●"/>
            </a:pPr>
            <a:r>
              <a:rPr lang="en"/>
              <a:t>Ganeshalingam, M., Shehabi, A., &amp; Desroches, L. (2017). Shining a Light on Small Data Centers in the U.S. Lawrence Berkeley National Laboratory. Report #: LBNL-2001025. Retrieved from https://escholarship.org/uc/item/8dh8j3kq</a:t>
            </a:r>
            <a:endParaRPr/>
          </a:p>
          <a:p>
            <a:pPr indent="-298767" lvl="0" marL="457200" rtl="0" algn="l">
              <a:spcBef>
                <a:spcPts val="0"/>
              </a:spcBef>
              <a:spcAft>
                <a:spcPts val="0"/>
              </a:spcAft>
              <a:buSzPct val="100000"/>
              <a:buChar char="●"/>
            </a:pPr>
            <a:r>
              <a:rPr lang="en"/>
              <a:t>I. Goiri, K. Le, J. Guitart, J. Torres and R. Bianchini, "Intelligent Placement of Datacenters for Internet Services," 2011 31st International Conference on Distributed Computing Systems, Minneapolis, MN, USA, 2011, pp. 131-142, doi: 10.1109/ICDCS.2011.19. keywords: {Servers;Availability;Optimization;Electricity;Time factors;Companies;Delay},</a:t>
            </a:r>
            <a:endParaRPr/>
          </a:p>
          <a:p>
            <a:pPr indent="-298767" lvl="0" marL="457200" rtl="0" algn="l">
              <a:spcBef>
                <a:spcPts val="0"/>
              </a:spcBef>
              <a:spcAft>
                <a:spcPts val="0"/>
              </a:spcAft>
              <a:buSzPct val="100000"/>
              <a:buChar char="●"/>
            </a:pPr>
            <a:r>
              <a:rPr lang="en"/>
              <a:t>Ni J, Jin B, Zhang B, Wang X. Simulation of Thermal Distribution and Airflow for Efficient Energy Consumption in a Small Data Centers. Sustainability. 2017; 9(4):664. https://doi.org/10.3390/su9040664</a:t>
            </a:r>
            <a:endParaRPr/>
          </a:p>
          <a:p>
            <a:pPr indent="-298767" lvl="0" marL="457200" rtl="0" algn="l">
              <a:spcBef>
                <a:spcPts val="0"/>
              </a:spcBef>
              <a:spcAft>
                <a:spcPts val="0"/>
              </a:spcAft>
              <a:buSzPct val="100000"/>
              <a:buChar char="●"/>
            </a:pPr>
            <a:r>
              <a:rPr lang="en"/>
              <a:t>International Energy Agency. Data Centres and Data Transmission Networks. IEA, Nov. 2023, www.iea.org/reports/data-centres-and-data-transmission-networks</a:t>
            </a:r>
            <a:endParaRPr/>
          </a:p>
          <a:p>
            <a:pPr indent="-298767" lvl="0" marL="457200" rtl="0" algn="l">
              <a:spcBef>
                <a:spcPts val="0"/>
              </a:spcBef>
              <a:spcAft>
                <a:spcPts val="0"/>
              </a:spcAft>
              <a:buSzPct val="100000"/>
              <a:buChar char="●"/>
            </a:pPr>
            <a:r>
              <a:rPr lang="en"/>
              <a:t>U.S. Energy Information Administration. Electricity Use in U.S. Data Centers. EIA, 2023, www.eia.gov</a:t>
            </a:r>
            <a:endParaRPr/>
          </a:p>
          <a:p>
            <a:pPr indent="-298767" lvl="0" marL="457200" rtl="0" algn="l">
              <a:spcBef>
                <a:spcPts val="0"/>
              </a:spcBef>
              <a:spcAft>
                <a:spcPts val="0"/>
              </a:spcAft>
              <a:buSzPct val="100000"/>
              <a:buChar char="●"/>
            </a:pPr>
            <a:r>
              <a:rPr lang="en"/>
              <a:t>CNBC. Franck, Thomas. “AI Data Centers Could Soon Use as Much Power as Small Countries.” CNBC, 18 Jan. 2024, www.cnbc.com</a:t>
            </a:r>
            <a:endParaRPr/>
          </a:p>
          <a:p>
            <a:pPr indent="-298767" lvl="0" marL="457200" rtl="0" algn="l">
              <a:spcBef>
                <a:spcPts val="0"/>
              </a:spcBef>
              <a:spcAft>
                <a:spcPts val="0"/>
              </a:spcAft>
              <a:buSzPct val="100000"/>
              <a:buChar char="●"/>
            </a:pPr>
            <a:r>
              <a:rPr lang="en"/>
              <a:t>Financial Times. “AI Boom Drives Surge in Power Demand for Data Centres.” Financial Times, 20 Feb. 2024.</a:t>
            </a:r>
            <a:endParaRPr/>
          </a:p>
          <a:p>
            <a:pPr indent="-298767" lvl="0" marL="457200" rtl="0" algn="l">
              <a:spcBef>
                <a:spcPts val="0"/>
              </a:spcBef>
              <a:spcAft>
                <a:spcPts val="0"/>
              </a:spcAft>
              <a:buSzPct val="100000"/>
              <a:buChar char="●"/>
            </a:pPr>
            <a:r>
              <a:rPr lang="en"/>
              <a:t>United Nations International Telecommunication Union (ITU). Greenhouse Gas Emissions from Data Centers and Digital Systems, UN/ITU Climate Report, 2024.</a:t>
            </a:r>
            <a:endParaRPr/>
          </a:p>
          <a:p>
            <a:pPr indent="0" lvl="0" marL="45720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